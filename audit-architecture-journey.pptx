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0" d="100"/>
          <a:sy n="160" d="100"/>
        </p:scale>
        <p:origin x="514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87440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9070848" y="0"/>
            <a:ext cx="73152" cy="228600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09728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10058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IT資産監査サービス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1463040" y="17373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アーキテクチャ転換の経緯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463040" y="25603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ツール中心の決定論的アプローチから</a:t>
            </a:r>
            <a:endParaRPr lang="en-US" sz="15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+ Skills方式への移行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4526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2026年2月  |  Nanairo Inc.  |  社内共有用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1182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288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当初の構想 — 決定論的ツール群＋AIオーケストレーション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097280"/>
            <a:ext cx="64008" cy="3474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1234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設計思想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1691640"/>
            <a:ext cx="3383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TypeScript製 静的解析オーケストレーター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analyzer.ts — 最終的に 5,847行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28種の外部ツール統合</a:t>
            </a:r>
            <a:endParaRPr lang="en-US" sz="13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ESLint, PHPStan, Bandit, PMD, Semgrep, Gitleaks, Trivy 等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163個のパターンマッチルール</a:t>
            </a:r>
            <a:endParaRPr lang="en-US" sz="1300" dirty="0"/>
          </a:p>
          <a:p>
            <a:pPr marL="685800" lvl="1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27 / Python 41 / JS 26 / Java 21 / C# 30 / 他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メトリクスDB + レポート自動生成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754880" y="109728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937760" y="11887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5,847</a:t>
            </a:r>
            <a:endParaRPr lang="en-US" sz="4200" dirty="0"/>
          </a:p>
        </p:txBody>
      </p:sp>
      <p:sp>
        <p:nvSpPr>
          <p:cNvPr id="11" name="Text 8"/>
          <p:cNvSpPr/>
          <p:nvPr/>
        </p:nvSpPr>
        <p:spPr>
          <a:xfrm>
            <a:off x="6675120" y="14173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937760" y="2057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analyzer.ts のコード量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754880" y="2880360"/>
            <a:ext cx="182880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937760" y="30175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3600" dirty="0"/>
          </a:p>
        </p:txBody>
      </p:sp>
      <p:sp>
        <p:nvSpPr>
          <p:cNvPr id="15" name="Text 12"/>
          <p:cNvSpPr/>
          <p:nvPr/>
        </p:nvSpPr>
        <p:spPr>
          <a:xfrm>
            <a:off x="4937760" y="37490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外部ツール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858000" y="2880360"/>
            <a:ext cx="182880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7040880" y="30175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163</a:t>
            </a:r>
            <a:endParaRPr lang="en-US" sz="3600" dirty="0"/>
          </a:p>
        </p:txBody>
      </p:sp>
      <p:sp>
        <p:nvSpPr>
          <p:cNvPr id="18" name="Text 15"/>
          <p:cNvSpPr/>
          <p:nvPr/>
        </p:nvSpPr>
        <p:spPr>
          <a:xfrm>
            <a:off x="7040880" y="37490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パターンルール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1182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288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デモプロジェクト検証 — 初期検出率10〜15%の現実</a:t>
            </a:r>
            <a:endParaRPr lang="en-US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プロジェクト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言語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埋込問題数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初期検出率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改善後検出率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Laravel Todo App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Django EC App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CMS App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JS/TS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83件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 Boot CRM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低い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83件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ASP.NET Legacy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58件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Vue Booking App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Vue.js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i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231件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3657600"/>
            <a:ext cx="8229600" cy="1188720"/>
          </a:xfrm>
          <a:prstGeom prst="rect">
            <a:avLst/>
          </a:prstGeom>
          <a:solidFill>
            <a:srgbClr val="FEF2F2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457200" y="3657600"/>
            <a:ext cx="64008" cy="118872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794760"/>
            <a:ext cx="365760" cy="3657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280160" y="37490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初期検出率は全体的に10〜15%台</a:t>
            </a:r>
            <a:endParaRPr lang="en-US" sz="1500" dirty="0"/>
          </a:p>
        </p:txBody>
      </p:sp>
      <p:sp>
        <p:nvSpPr>
          <p:cNvPr id="10" name="Text 5"/>
          <p:cNvSpPr/>
          <p:nvPr/>
        </p:nvSpPr>
        <p:spPr>
          <a:xfrm>
            <a:off x="1280160" y="416052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28種のツール統合と163個のパターンルール追加で改善を試みたが、最大でも50%程度が限界だった。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サービスとして提供するには大幅に不足。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1182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288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発生した問題 — パターンマッチの肥大化と原理的限界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097280"/>
            <a:ext cx="64008" cy="1645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Shape 4"/>
          <p:cNvSpPr/>
          <p:nvPr/>
        </p:nvSpPr>
        <p:spPr>
          <a:xfrm>
            <a:off x="685800" y="1280160"/>
            <a:ext cx="411480" cy="4114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1280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234440" y="1280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ルール肥大化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31520" y="178308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163個のパターンマッチルールを言語ごとに管理。getCSharpPatternRules() 等に正規表現を次々追加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63440" y="109728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63440" y="1097280"/>
            <a:ext cx="64008" cy="16459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3" name="Shape 10"/>
          <p:cNvSpPr/>
          <p:nvPr/>
        </p:nvSpPr>
        <p:spPr>
          <a:xfrm>
            <a:off x="4892040" y="1280160"/>
            <a:ext cx="411480" cy="4114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4" name="Text 11"/>
          <p:cNvSpPr/>
          <p:nvPr/>
        </p:nvSpPr>
        <p:spPr>
          <a:xfrm>
            <a:off x="4892040" y="1280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440680" y="1280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重複検出の多発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937760" y="178308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同一問題をPHPStan / PHPCS / パターンマッチが各々検出。Laravel: 22件の問題に対し160件のノイズ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7200" y="297180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57200" y="2971800"/>
            <a:ext cx="64008" cy="164592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19" name="Shape 16"/>
          <p:cNvSpPr/>
          <p:nvPr/>
        </p:nvSpPr>
        <p:spPr>
          <a:xfrm>
            <a:off x="685800" y="3154680"/>
            <a:ext cx="411480" cy="41148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20" name="Text 17"/>
          <p:cNvSpPr/>
          <p:nvPr/>
        </p:nvSpPr>
        <p:spPr>
          <a:xfrm>
            <a:off x="685800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234440" y="31546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50%の壁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731520" y="365760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「コードが存在しない」問題（認可チェック欠如、バリデーション欠如等）はパターンマッチでは原理的に検出不可能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663440" y="297180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663440" y="2971800"/>
            <a:ext cx="64008" cy="164592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25" name="Shape 22"/>
          <p:cNvSpPr/>
          <p:nvPr/>
        </p:nvSpPr>
        <p:spPr>
          <a:xfrm>
            <a:off x="4892040" y="3154680"/>
            <a:ext cx="411480" cy="41148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6" name="Text 23"/>
          <p:cNvSpPr/>
          <p:nvPr/>
        </p:nvSpPr>
        <p:spPr>
          <a:xfrm>
            <a:off x="4892040" y="3154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440680" y="31546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保守性の低下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4937760" y="365760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analyzer.ts 5,847行に膨張。言語ごとのルール追加が開発のボトルネックに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1828800" y="4572000"/>
            <a:ext cx="5486400" cy="411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0" name="Text 27"/>
          <p:cNvSpPr/>
          <p:nvPr/>
        </p:nvSpPr>
        <p:spPr>
          <a:xfrm>
            <a:off x="1828800" y="45720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→「これ、Claudeに読ませたほうがよくないか？」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720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4114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方針転換 — Claude + Skills 方式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54864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コスト戦略の転換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48640" y="1783080"/>
            <a:ext cx="3840480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3"/>
          <p:cNvSpPr/>
          <p:nvPr/>
        </p:nvSpPr>
        <p:spPr>
          <a:xfrm>
            <a:off x="685800" y="178308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97280" y="18288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当初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97280" y="203911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従量課金 → コスト予測困難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2468880"/>
            <a:ext cx="3840480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" y="246888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97280" y="2514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転換後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097280" y="272491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Team/Max 席のusage活用 → 追加API費用ゼロ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8640" y="3154680"/>
            <a:ext cx="3840480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" y="315468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097280" y="32004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製品形態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097280" y="341071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TypeScriptアプリ → Skills（プロンプト）+ MCP設定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84632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Skills方式の設計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4846320" y="1783080"/>
            <a:ext cx="3840480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9" name="Shape 16"/>
          <p:cNvSpPr/>
          <p:nvPr/>
        </p:nvSpPr>
        <p:spPr>
          <a:xfrm>
            <a:off x="4846320" y="1783080"/>
            <a:ext cx="64008" cy="8229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0" name="Text 17"/>
          <p:cNvSpPr/>
          <p:nvPr/>
        </p:nvSpPr>
        <p:spPr>
          <a:xfrm>
            <a:off x="5120640" y="18562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/audit-discovery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120640" y="214884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調査フェーズ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技術スタック把握・git履歴分析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846320" y="2788920"/>
            <a:ext cx="3840480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3" name="Shape 20"/>
          <p:cNvSpPr/>
          <p:nvPr/>
        </p:nvSpPr>
        <p:spPr>
          <a:xfrm>
            <a:off x="4846320" y="2788920"/>
            <a:ext cx="64008" cy="8229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4" name="Text 21"/>
          <p:cNvSpPr/>
          <p:nvPr/>
        </p:nvSpPr>
        <p:spPr>
          <a:xfrm>
            <a:off x="5120640" y="28620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/audit-analysis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5120640" y="315468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分析フェーズ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外部ツール実行 + AI意味解析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846320" y="3794760"/>
            <a:ext cx="3840480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Shape 24"/>
          <p:cNvSpPr/>
          <p:nvPr/>
        </p:nvSpPr>
        <p:spPr>
          <a:xfrm>
            <a:off x="4846320" y="3794760"/>
            <a:ext cx="64008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Text 25"/>
          <p:cNvSpPr/>
          <p:nvPr/>
        </p:nvSpPr>
        <p:spPr>
          <a:xfrm>
            <a:off x="5120640" y="38679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/audit-report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5120640" y="416052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レポート生成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統合レポート・顧客提出用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548640" y="44805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MCP調査の結果、ast-grepとSQLiteのみ付加価値あり。他はClaude Code組み込みツールで代替可能。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1182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288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3方式比較テスト — ISSUES.md 22件に対する検出率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260604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097280"/>
            <a:ext cx="2606040" cy="64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13258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Read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051560" y="1828800"/>
            <a:ext cx="1417320" cy="1417320"/>
          </a:xfrm>
          <a:prstGeom prst="ellipse">
            <a:avLst/>
          </a:prstGeom>
          <a:solidFill>
            <a:srgbClr val="ECFDF5"/>
          </a:solidFill>
          <a:ln/>
        </p:spPr>
      </p:sp>
      <p:sp>
        <p:nvSpPr>
          <p:cNvPr id="9" name="Text 6"/>
          <p:cNvSpPr/>
          <p:nvPr/>
        </p:nvSpPr>
        <p:spPr>
          <a:xfrm>
            <a:off x="1051560" y="1828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457200" y="33375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22/22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361188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追加発見: +22件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94360" y="384048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コード不在問題も検出可能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91840" y="1097280"/>
            <a:ext cx="260604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91840" y="1097280"/>
            <a:ext cx="2606040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2"/>
          <p:cNvSpPr/>
          <p:nvPr/>
        </p:nvSpPr>
        <p:spPr>
          <a:xfrm>
            <a:off x="3291840" y="13258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Grep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3886200" y="1828800"/>
            <a:ext cx="1417320" cy="1417320"/>
          </a:xfrm>
          <a:prstGeom prst="ellipse">
            <a:avLst/>
          </a:prstGeom>
          <a:solidFill>
            <a:srgbClr val="EFF6FF"/>
          </a:solidFill>
          <a:ln/>
        </p:spPr>
      </p:sp>
      <p:sp>
        <p:nvSpPr>
          <p:cNvPr id="17" name="Text 14"/>
          <p:cNvSpPr/>
          <p:nvPr/>
        </p:nvSpPr>
        <p:spPr>
          <a:xfrm>
            <a:off x="3886200" y="1828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</a:t>
            </a:r>
            <a:endParaRPr lang="en-US" sz="3200" dirty="0"/>
          </a:p>
        </p:txBody>
      </p:sp>
      <p:sp>
        <p:nvSpPr>
          <p:cNvPr id="18" name="Text 15"/>
          <p:cNvSpPr/>
          <p:nvPr/>
        </p:nvSpPr>
        <p:spPr>
          <a:xfrm>
            <a:off x="3291840" y="33375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~15/22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3291840" y="361188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追加発見: +数件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3429000" y="384048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高速・トークン消費ゼロ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126480" y="1097280"/>
            <a:ext cx="260604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126480" y="1097280"/>
            <a:ext cx="2606040" cy="64008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23" name="Text 20"/>
          <p:cNvSpPr/>
          <p:nvPr/>
        </p:nvSpPr>
        <p:spPr>
          <a:xfrm>
            <a:off x="6126480" y="13258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ast-grep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6720840" y="1828800"/>
            <a:ext cx="1417320" cy="1417320"/>
          </a:xfrm>
          <a:prstGeom prst="ellipse">
            <a:avLst/>
          </a:prstGeom>
          <a:solidFill>
            <a:srgbClr val="F9FAFB"/>
          </a:solidFill>
          <a:ln/>
        </p:spPr>
      </p:sp>
      <p:sp>
        <p:nvSpPr>
          <p:cNvPr id="25" name="Text 22"/>
          <p:cNvSpPr/>
          <p:nvPr/>
        </p:nvSpPr>
        <p:spPr>
          <a:xfrm>
            <a:off x="6720840" y="1828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23%</a:t>
            </a:r>
            <a:endParaRPr lang="en-US" sz="3200" dirty="0"/>
          </a:p>
        </p:txBody>
      </p:sp>
      <p:sp>
        <p:nvSpPr>
          <p:cNvPr id="26" name="Text 23"/>
          <p:cNvSpPr/>
          <p:nvPr/>
        </p:nvSpPr>
        <p:spPr>
          <a:xfrm>
            <a:off x="6126480" y="33375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~5/22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6126480" y="361188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追加発見: +1件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263640" y="384048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AST構造解析、制約多い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テストデータ: ヒントコメント除去済みの laravel-todo-app-clean/ を使用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1182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288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「コード不在」問題 — Claudeだけが検出できる領域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8229600" cy="7315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0972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22件中7件（32%）が「あるべきコードが存在しない」問題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正規表現でもAST解析でも「存在しないもの」は検索できない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2011680"/>
            <a:ext cx="393192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66928" y="2103120"/>
            <a:ext cx="228600" cy="2286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Text 6"/>
          <p:cNvSpPr/>
          <p:nvPr/>
        </p:nvSpPr>
        <p:spPr>
          <a:xfrm>
            <a:off x="566928" y="21031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914400" y="20116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IDOR（オーナーチェック欠如）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2514600"/>
            <a:ext cx="393192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66928" y="2606040"/>
            <a:ext cx="228600" cy="2286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3" name="Text 10"/>
          <p:cNvSpPr/>
          <p:nvPr/>
        </p:nvSpPr>
        <p:spPr>
          <a:xfrm>
            <a:off x="566928" y="26060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914400" y="25146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パスワードリセット本人確認なし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3017520"/>
            <a:ext cx="393192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" y="3108960"/>
            <a:ext cx="228600" cy="2286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7" name="Text 14"/>
          <p:cNvSpPr/>
          <p:nvPr/>
        </p:nvSpPr>
        <p:spPr>
          <a:xfrm>
            <a:off x="566928" y="31089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914400" y="30175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ユーザー列挙（エラーメッセージ差異）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57200" y="3520440"/>
            <a:ext cx="393192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66928" y="3611880"/>
            <a:ext cx="228600" cy="2286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1" name="Text 18"/>
          <p:cNvSpPr/>
          <p:nvPr/>
        </p:nvSpPr>
        <p:spPr>
          <a:xfrm>
            <a:off x="566928" y="36118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914400" y="35204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入力バリデーション欠如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663440" y="2011680"/>
            <a:ext cx="393192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773168" y="2103120"/>
            <a:ext cx="228600" cy="2286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5" name="Text 22"/>
          <p:cNvSpPr/>
          <p:nvPr/>
        </p:nvSpPr>
        <p:spPr>
          <a:xfrm>
            <a:off x="4773168" y="210312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120640" y="20116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レート制限なし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4663440" y="2514600"/>
            <a:ext cx="393192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773168" y="2606040"/>
            <a:ext cx="228600" cy="2286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9" name="Text 26"/>
          <p:cNvSpPr/>
          <p:nvPr/>
        </p:nvSpPr>
        <p:spPr>
          <a:xfrm>
            <a:off x="4773168" y="26060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5120640" y="25146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CSRF保護なし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4663440" y="3017520"/>
            <a:ext cx="393192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4773168" y="3108960"/>
            <a:ext cx="228600" cy="2286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3" name="Text 30"/>
          <p:cNvSpPr/>
          <p:nvPr/>
        </p:nvSpPr>
        <p:spPr>
          <a:xfrm>
            <a:off x="4773168" y="31089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5120640" y="30175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minimum-stability: dev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457200" y="4160520"/>
            <a:ext cx="8229600" cy="777240"/>
          </a:xfrm>
          <a:prstGeom prst="rect">
            <a:avLst/>
          </a:prstGeom>
          <a:solidFill>
            <a:srgbClr val="ECFDF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457200" y="4160520"/>
            <a:ext cx="64008" cy="77724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3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297680"/>
            <a:ext cx="320040" cy="320040"/>
          </a:xfrm>
          <a:prstGeom prst="rect">
            <a:avLst/>
          </a:prstGeom>
        </p:spPr>
      </p:pic>
      <p:sp>
        <p:nvSpPr>
          <p:cNvPr id="38" name="Text 34"/>
          <p:cNvSpPr/>
          <p:nvPr/>
        </p:nvSpPr>
        <p:spPr>
          <a:xfrm>
            <a:off x="1280160" y="420624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「何かが存在する」ことは検索できるが、「何かが存在しない」ことは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文脈を理解するAIだけが判断できる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1182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288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推奨アーキテクチャ — 3層ハイブリッド構成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822960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051560"/>
            <a:ext cx="64008" cy="1143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1097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決定論的ツール層（維持）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ESLint, PHPStan, Bandit, PMD, Semgrep, Gitleaks + Grepプレスクリーニング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77240" y="1691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既知パターン高速検出 / CVE・構文エラー・依存関係脆弱性 / トークン消費ゼロ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743200" y="2240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結果をコンテキストとして渡す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2606040"/>
            <a:ext cx="822960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" y="2606040"/>
            <a:ext cx="64008" cy="11430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2651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Claude AIセマンティック分析（新規）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77240" y="2971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+ Skills（Team/Max席のusage内）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77240" y="3246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「コード不在」問題検出 / ビジネスロジック脆弱性 / コンテキスト依存判断 / 偽陽性フィルタリング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114800" y="37947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57200" y="406908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57200" y="4069080"/>
            <a:ext cx="64008" cy="8686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6"/>
          <p:cNvSpPr/>
          <p:nvPr/>
        </p:nvSpPr>
        <p:spPr>
          <a:xfrm>
            <a:off x="777240" y="4114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人間レビュー層（維持）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777240" y="4434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エンジニアがClaude Codeの出力をリアルタイム監督 / ビジネス優先度判断 / 顧客向けレポート最終調整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720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4114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教訓と次のステップ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54864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重要な教訓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48640" y="1691640"/>
            <a:ext cx="384048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Shape 3"/>
          <p:cNvSpPr/>
          <p:nvPr/>
        </p:nvSpPr>
        <p:spPr>
          <a:xfrm>
            <a:off x="685800" y="182880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1828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43000" y="173736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パターンマッチの限界は検出率50%付近 — 163ルールまで拡充しても「不在の検出」ができない壁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2468880"/>
            <a:ext cx="384048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Shape 7"/>
          <p:cNvSpPr/>
          <p:nvPr/>
        </p:nvSpPr>
        <p:spPr>
          <a:xfrm>
            <a:off x="685800" y="260604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Text 8"/>
          <p:cNvSpPr/>
          <p:nvPr/>
        </p:nvSpPr>
        <p:spPr>
          <a:xfrm>
            <a:off x="685800" y="26060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143000" y="251460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テストデータの品質管理が重要 — ヒントコメントがあると検出率が水増しされる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48640" y="3246120"/>
            <a:ext cx="384048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Shape 11"/>
          <p:cNvSpPr/>
          <p:nvPr/>
        </p:nvSpPr>
        <p:spPr>
          <a:xfrm>
            <a:off x="685800" y="338328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5" name="Text 12"/>
          <p:cNvSpPr/>
          <p:nvPr/>
        </p:nvSpPr>
        <p:spPr>
          <a:xfrm>
            <a:off x="685800" y="3383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143000" y="32918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MCPの多くはClaude Code組み込みツールと重複 — ast-grepとSQLiteのみ付加価値あり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48640" y="4023360"/>
            <a:ext cx="3840480" cy="640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Shape 15"/>
          <p:cNvSpPr/>
          <p:nvPr/>
        </p:nvSpPr>
        <p:spPr>
          <a:xfrm>
            <a:off x="685800" y="416052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9" name="Text 16"/>
          <p:cNvSpPr/>
          <p:nvPr/>
        </p:nvSpPr>
        <p:spPr>
          <a:xfrm>
            <a:off x="685800" y="4160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143000" y="406908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Team/Max席は有効なコスト戦略 — API従量課金を避けてサービスを「製品化」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84632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未検証事項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4846320" y="1691640"/>
            <a:ext cx="3840480" cy="43891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3" name="Shape 20"/>
          <p:cNvSpPr/>
          <p:nvPr/>
        </p:nvSpPr>
        <p:spPr>
          <a:xfrm>
            <a:off x="5029200" y="1819656"/>
            <a:ext cx="182880" cy="182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349240" y="1691640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他デモプロジェクトでのクロス検証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846320" y="2258568"/>
            <a:ext cx="3840480" cy="43891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6" name="Shape 23"/>
          <p:cNvSpPr/>
          <p:nvPr/>
        </p:nvSpPr>
        <p:spPr>
          <a:xfrm>
            <a:off x="5029200" y="2386584"/>
            <a:ext cx="182880" cy="182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349240" y="2258568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エンドツーエンドテスト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846320" y="2825496"/>
            <a:ext cx="3840480" cy="43891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Shape 26"/>
          <p:cNvSpPr/>
          <p:nvPr/>
        </p:nvSpPr>
        <p:spPr>
          <a:xfrm>
            <a:off x="5029200" y="2953512"/>
            <a:ext cx="182880" cy="182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349240" y="2825496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Grep事前スクリーニングのSkills組込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4846320" y="3392424"/>
            <a:ext cx="3840480" cy="43891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2" name="Shape 29"/>
          <p:cNvSpPr/>
          <p:nvPr/>
        </p:nvSpPr>
        <p:spPr>
          <a:xfrm>
            <a:off x="5029200" y="3520440"/>
            <a:ext cx="182880" cy="182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349240" y="3392424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analyzer.ts の段階的縮小計画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846320" y="3959352"/>
            <a:ext cx="3840480" cy="43891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5" name="Shape 32"/>
          <p:cNvSpPr/>
          <p:nvPr/>
        </p:nvSpPr>
        <p:spPr>
          <a:xfrm>
            <a:off x="5029200" y="4087368"/>
            <a:ext cx="182880" cy="182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349240" y="3959352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大規模コードベースのトークン消費量見積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0" y="4892040"/>
            <a:ext cx="9144000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8" name="Text 35"/>
          <p:cNvSpPr/>
          <p:nvPr/>
        </p:nvSpPr>
        <p:spPr>
          <a:xfrm>
            <a:off x="54864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2026年2月  |  Nanairo Inc.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4472C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34901" y="507950"/>
            <a:ext cx="803168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876"/>
              </a:spcBef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後日談 — その後の展開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34901" y="1219051"/>
            <a:ext cx="803168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400"/>
              </a:spcBef>
              <a:spcAft>
                <a:spcPts val="2000"/>
              </a:spcAft>
              <a:buNone/>
            </a:pPr>
            <a:r>
              <a:rPr lang="en-US" sz="1400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2026年2月〜3月  |  3つの転機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34901" y="1739652"/>
            <a:ext cx="8031682" cy="447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60"/>
              </a:lnSpc>
              <a:spcBef>
                <a:spcPts val="1100"/>
              </a:spcBef>
              <a:spcAft>
                <a:spcPts val="2400"/>
              </a:spcAft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Skills方式への転換後、新たな問い「</a:t>
            </a:r>
            <a:r>
              <a:rPr lang="en-US" sz="11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それ、Claude Code Reviewでよくね？</a:t>
            </a: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」に直面。</a:t>
            </a:r>
            <a:endParaRPr lang="en-US" sz="1100" dirty="0"/>
          </a:p>
          <a:p>
            <a:pPr marL="0" indent="0" algn="l">
              <a:lnSpc>
                <a:spcPts val="1760"/>
              </a:lnSpc>
              <a:spcBef>
                <a:spcPts val="1100"/>
              </a:spcBef>
              <a:spcAft>
                <a:spcPts val="2400"/>
              </a:spcAft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調査の結果、競合ではなく</a:t>
            </a:r>
            <a:endParaRPr lang="en-US" sz="1100" dirty="0"/>
          </a:p>
          <a:p>
            <a:pPr marL="0" indent="0" algn="l">
              <a:lnSpc>
                <a:spcPts val="1760"/>
              </a:lnSpc>
              <a:spcBef>
                <a:spcPts val="1100"/>
              </a:spcBef>
              <a:spcAft>
                <a:spcPts val="2400"/>
              </a:spcAft>
              <a:buNone/>
            </a:pPr>
            <a:r>
              <a:rPr lang="en-US" sz="11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補完関係</a:t>
            </a: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であることが判明し、さらなる価値創出へ。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34901" y="2491532"/>
            <a:ext cx="2489299" cy="1961852"/>
          </a:xfrm>
          <a:prstGeom prst="roundRect">
            <a:avLst>
              <a:gd name="adj" fmla="val 5179"/>
            </a:avLst>
          </a:prstGeom>
          <a:solidFill>
            <a:srgbClr val="2A2A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38051" y="2796183"/>
            <a:ext cx="212465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600"/>
              </a:spcAft>
              <a:buNone/>
            </a:pPr>
            <a:r>
              <a:rPr lang="en-US" sz="800" dirty="0">
                <a:solidFill>
                  <a:srgbClr val="A5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転機 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38051" y="3088184"/>
            <a:ext cx="2124658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100"/>
              </a:spcBef>
              <a:spcAft>
                <a:spcPts val="8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Review</a:t>
            </a:r>
            <a:endParaRPr lang="en-US" sz="1100" dirty="0"/>
          </a:p>
          <a:p>
            <a:pPr marL="0" indent="0" algn="l">
              <a:spcBef>
                <a:spcPts val="1100"/>
              </a:spcBef>
              <a:spcAft>
                <a:spcPts val="8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の登場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38051" y="3564434"/>
            <a:ext cx="212465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Anthropic公式のPRレビュー機能。</a:t>
            </a:r>
            <a:endParaRPr lang="en-US" sz="900" dirty="0"/>
          </a:p>
          <a:p>
            <a:pPr marL="0" indent="0" algn="l">
              <a:lnSpc>
                <a:spcPts val="135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「自社サービス不要では？」</a:t>
            </a:r>
            <a:endParaRPr lang="en-US" sz="900" dirty="0"/>
          </a:p>
          <a:p>
            <a:pPr marL="0" indent="0" algn="l">
              <a:lnSpc>
                <a:spcPts val="135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という問いに向き合う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327350" y="2491532"/>
            <a:ext cx="2489299" cy="1961852"/>
          </a:xfrm>
          <a:prstGeom prst="roundRect">
            <a:avLst>
              <a:gd name="adj" fmla="val 5179"/>
            </a:avLst>
          </a:prstGeom>
          <a:solidFill>
            <a:srgbClr val="2A2A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530501" y="2796183"/>
            <a:ext cx="212465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600"/>
              </a:spcAft>
              <a:buNone/>
            </a:pPr>
            <a:r>
              <a:rPr lang="en-US" sz="800" dirty="0">
                <a:solidFill>
                  <a:srgbClr val="A5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転機 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530501" y="3088184"/>
            <a:ext cx="2124658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1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70A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補完関係</a:t>
            </a: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の発見</a:t>
            </a:r>
            <a:endParaRPr lang="en-US" sz="1100" dirty="0"/>
          </a:p>
          <a:p>
            <a:pPr marL="0" indent="0" algn="l">
              <a:spcBef>
                <a:spcPts val="1100"/>
              </a:spcBef>
              <a:spcAft>
                <a:spcPts val="8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と併用戦略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30501" y="3621584"/>
            <a:ext cx="212465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一括監査 vs PR差分レビュー。</a:t>
            </a:r>
            <a:endParaRPr lang="en-US" sz="900" dirty="0"/>
          </a:p>
          <a:p>
            <a:pPr marL="0" indent="0" algn="l">
              <a:lnSpc>
                <a:spcPts val="135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REVIEW.md自動生成で</a:t>
            </a:r>
            <a:endParaRPr lang="en-US" sz="900" dirty="0"/>
          </a:p>
          <a:p>
            <a:pPr marL="0" indent="0" algn="l">
              <a:lnSpc>
                <a:spcPts val="135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初回監査の知見を永続化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019800" y="2491532"/>
            <a:ext cx="2489299" cy="1961852"/>
          </a:xfrm>
          <a:prstGeom prst="roundRect">
            <a:avLst>
              <a:gd name="adj" fmla="val 5179"/>
            </a:avLst>
          </a:prstGeom>
          <a:solidFill>
            <a:srgbClr val="2A2A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222950" y="2796183"/>
            <a:ext cx="212465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600"/>
              </a:spcAft>
              <a:buNone/>
            </a:pPr>
            <a:r>
              <a:rPr lang="en-US" sz="800" dirty="0">
                <a:solidFill>
                  <a:srgbClr val="A5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転機 3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222950" y="3088184"/>
            <a:ext cx="2124658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100"/>
              </a:spcBef>
              <a:spcAft>
                <a:spcPts val="8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DAST統合</a:t>
            </a:r>
            <a:endParaRPr lang="en-US" sz="1100" dirty="0"/>
          </a:p>
          <a:p>
            <a:pPr marL="0" indent="0" algn="l">
              <a:spcBef>
                <a:spcPts val="1100"/>
              </a:spcBef>
              <a:spcAft>
                <a:spcPts val="8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(動的解析の追加)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22950" y="3621584"/>
            <a:ext cx="212465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Playwright + OWASP ZAP。</a:t>
            </a:r>
            <a:endParaRPr lang="en-US" sz="900" dirty="0"/>
          </a:p>
          <a:p>
            <a:pPr marL="0" indent="0" algn="l">
              <a:lnSpc>
                <a:spcPts val="135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静的解析だけでは見つからない</a:t>
            </a:r>
            <a:endParaRPr lang="en-US" sz="900" dirty="0"/>
          </a:p>
          <a:p>
            <a:pPr marL="0" indent="0" algn="l">
              <a:lnSpc>
                <a:spcPts val="135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実行時脆弱性を補完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34901" y="4737199"/>
            <a:ext cx="803168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2026年3月  |  Nanairo Inc.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4472C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34901" y="457200"/>
            <a:ext cx="8031682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474"/>
              </a:spcBef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Review — 競合か、補完か？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34901" y="1015901"/>
            <a:ext cx="803168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100"/>
              </a:spcBef>
              <a:spcAft>
                <a:spcPts val="1800"/>
              </a:spcAft>
              <a:buNone/>
            </a:pPr>
            <a:r>
              <a:rPr lang="en-US" sz="1100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調査結果: 直接競合ではなく補完関係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34901" y="1593652"/>
            <a:ext cx="386039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100"/>
              </a:spcBef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Review の実態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34901" y="1917502"/>
            <a:ext cx="386039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900"/>
              </a:spcBef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対象範囲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34901" y="2190452"/>
            <a:ext cx="3860393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PRの差分レビューに特化。既存コードベース全体の一括監査は</a:t>
            </a:r>
            <a:r>
              <a:rPr lang="en-US" sz="8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不可能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34901" y="2447032"/>
            <a:ext cx="386039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900"/>
              </a:spcBef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実行方法（2つ）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34901" y="2719983"/>
            <a:ext cx="3860393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マネージド版</a:t>
            </a: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Teams/Enterprise、$15-80+/回、PR時自動
</a:t>
            </a:r>
            <a:r>
              <a:rPr lang="en-US" sz="800" b="1" dirty="0">
                <a:solidFill>
                  <a:srgbClr val="70A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プラグイン版</a:t>
            </a: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Max/Pro/Teams、追加$0、手動実行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34901" y="3118842"/>
            <a:ext cx="386039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900"/>
              </a:spcBef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カスタマイズ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34901" y="3391793"/>
            <a:ext cx="3860393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REVIEW.md をリポジトリに配置するとカスタムルールでレビュー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724400" y="1593652"/>
            <a:ext cx="386039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100"/>
              </a:spcBef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本サービスとの役割分担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24400" y="3754487"/>
            <a:ext cx="3784699" cy="1130052"/>
          </a:xfrm>
          <a:prstGeom prst="roundRect">
            <a:avLst>
              <a:gd name="adj" fmla="val 8991"/>
            </a:avLst>
          </a:prstGeom>
          <a:solidFill>
            <a:srgbClr val="F0F4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748213" y="3754487"/>
            <a:ext cx="0" cy="1130052"/>
          </a:xfrm>
          <a:prstGeom prst="line">
            <a:avLst/>
          </a:prstGeom>
          <a:noFill/>
          <a:ln w="47625">
            <a:solidFill>
              <a:srgbClr val="4472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24425" y="4033837"/>
            <a:ext cx="35009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結論: 競合ではなく「引き継ぎ」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24425" y="4325838"/>
            <a:ext cx="35009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初回監査で全体を把握 → REVIEW.mdに知見を永続化 → 以降のPRはCode Reviewが自動チェック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70AD4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34901" y="381000"/>
            <a:ext cx="8031682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474"/>
              </a:spcBef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REVIEW.md自動生成 — 監査の知見を永続化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34901" y="939701"/>
            <a:ext cx="803168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100"/>
              </a:spcBef>
              <a:spcAft>
                <a:spcPts val="1000"/>
              </a:spcAft>
              <a:buNone/>
            </a:pPr>
            <a:r>
              <a:rPr lang="en-US" sz="1100" dirty="0">
                <a:solidFill>
                  <a:srgbClr val="70A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新Skill: /audit-review-config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34901" y="1276201"/>
            <a:ext cx="1720751" cy="1206252"/>
          </a:xfrm>
          <a:prstGeom prst="roundRect">
            <a:avLst>
              <a:gd name="adj" fmla="val 8423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634901" y="1295251"/>
            <a:ext cx="1720751" cy="0"/>
          </a:xfrm>
          <a:prstGeom prst="line">
            <a:avLst/>
          </a:prstGeom>
          <a:noFill/>
          <a:ln w="38100">
            <a:solidFill>
              <a:srgbClr val="4472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7183" y="1530102"/>
            <a:ext cx="149618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7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A5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747183" y="1739652"/>
            <a:ext cx="149618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900"/>
              </a:spcBef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初回監査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47183" y="1999952"/>
            <a:ext cx="149618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コードベース全体</a:t>
            </a:r>
            <a:endParaRPr lang="en-US" sz="700" dirty="0"/>
          </a:p>
          <a:p>
            <a:pPr marL="0" indent="0" algn="ctr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を一括チェック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2431852" y="1774478"/>
            <a:ext cx="1814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A5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685901" y="1276201"/>
            <a:ext cx="1720900" cy="1206252"/>
          </a:xfrm>
          <a:prstGeom prst="roundRect">
            <a:avLst>
              <a:gd name="adj" fmla="val 8423"/>
            </a:avLst>
          </a:prstGeom>
          <a:solidFill>
            <a:srgbClr val="F0FFF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2685901" y="1295251"/>
            <a:ext cx="1720900" cy="0"/>
          </a:xfrm>
          <a:prstGeom prst="line">
            <a:avLst/>
          </a:prstGeom>
          <a:noFill/>
          <a:ln w="38100">
            <a:solidFill>
              <a:srgbClr val="70AD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98182" y="1530102"/>
            <a:ext cx="149633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7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A5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2798182" y="1739652"/>
            <a:ext cx="149633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900"/>
              </a:spcBef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REVIEW.md生成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798182" y="1999952"/>
            <a:ext cx="149633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検出パターンを</a:t>
            </a:r>
            <a:endParaRPr lang="en-US" sz="700" dirty="0"/>
          </a:p>
          <a:p>
            <a:pPr marL="0" indent="0" algn="ctr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ルール化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4483001" y="1774478"/>
            <a:ext cx="1814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A5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37050" y="1276201"/>
            <a:ext cx="1720900" cy="1206252"/>
          </a:xfrm>
          <a:prstGeom prst="roundRect">
            <a:avLst>
              <a:gd name="adj" fmla="val 8423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737050" y="1295251"/>
            <a:ext cx="1720900" cy="0"/>
          </a:xfrm>
          <a:prstGeom prst="line">
            <a:avLst/>
          </a:prstGeom>
          <a:noFill/>
          <a:ln w="38100">
            <a:solidFill>
              <a:srgbClr val="4472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9331" y="1530102"/>
            <a:ext cx="149633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7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A5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849331" y="1739652"/>
            <a:ext cx="149633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900"/>
              </a:spcBef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継続AIレビュー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49331" y="1999952"/>
            <a:ext cx="149633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PRごとに</a:t>
            </a:r>
            <a:endParaRPr lang="en-US" sz="700" dirty="0"/>
          </a:p>
          <a:p>
            <a:pPr marL="0" indent="0" algn="ctr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自動チェック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6534150" y="1774478"/>
            <a:ext cx="1814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A5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788200" y="1276201"/>
            <a:ext cx="1720900" cy="1206252"/>
          </a:xfrm>
          <a:prstGeom prst="roundRect">
            <a:avLst>
              <a:gd name="adj" fmla="val 8423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6788200" y="1295251"/>
            <a:ext cx="1720900" cy="0"/>
          </a:xfrm>
          <a:prstGeom prst="line">
            <a:avLst/>
          </a:prstGeom>
          <a:noFill/>
          <a:ln w="38100">
            <a:solidFill>
              <a:srgbClr val="4472C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00480" y="1530102"/>
            <a:ext cx="149633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700"/>
              </a:spcBef>
              <a:spcAft>
                <a:spcPts val="200"/>
              </a:spcAft>
              <a:buNone/>
            </a:pPr>
            <a:r>
              <a:rPr lang="en-US" sz="700" dirty="0">
                <a:solidFill>
                  <a:srgbClr val="A5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6900480" y="1739652"/>
            <a:ext cx="149633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900"/>
              </a:spcBef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品質維持・向上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900480" y="1999952"/>
            <a:ext cx="149633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再発防止</a:t>
            </a:r>
            <a:endParaRPr lang="en-US" sz="700" dirty="0"/>
          </a:p>
          <a:p>
            <a:pPr marL="0" indent="0" algn="ctr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継続改善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634901" y="2609404"/>
            <a:ext cx="7874198" cy="1131094"/>
          </a:xfrm>
          <a:prstGeom prst="roundRect">
            <a:avLst>
              <a:gd name="adj" fmla="val 8982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658713" y="2609404"/>
            <a:ext cx="0" cy="1131094"/>
          </a:xfrm>
          <a:prstGeom prst="line">
            <a:avLst/>
          </a:prstGeom>
          <a:noFill/>
          <a:ln w="47625">
            <a:solidFill>
              <a:srgbClr val="70AD4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1126" y="2875955"/>
            <a:ext cx="75167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100"/>
              </a:spcBef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ルール変換ロジック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11126" y="3187005"/>
            <a:ext cx="7516761" cy="325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b="1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Critical/High</a:t>
            </a:r>
            <a:r>
              <a:rPr lang="en-US" sz="8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MUSTルール（「〜してはならない」） | </a:t>
            </a:r>
            <a:r>
              <a:rPr lang="en-US" sz="800" b="1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r>
              <a:rPr lang="en-US" sz="8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SHOULDルール（「〜すべき」） | </a:t>
            </a:r>
            <a:r>
              <a:rPr lang="en-US" sz="800" b="1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r>
              <a:rPr lang="en-US" sz="8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含めない</a:t>
            </a:r>
            <a:endParaRPr lang="en-US" sz="800" dirty="0"/>
          </a:p>
          <a:p>
            <a:pPr marL="0" indent="0" algn="l">
              <a:lnSpc>
                <a:spcPts val="128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445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同カテゴリの類似問題は1ルールに統合。技術スタック固有ルールを自動追加（6言語対応）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34901" y="3867448"/>
            <a:ext cx="2489299" cy="1114127"/>
          </a:xfrm>
          <a:prstGeom prst="roundRect">
            <a:avLst>
              <a:gd name="adj" fmla="val 6839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739497" y="4248299"/>
            <a:ext cx="2280106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0"/>
              </a:spcBef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70A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15-30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39497" y="4632424"/>
            <a:ext cx="22801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ルール総数の目安（多すぎるとレビューが重くなる）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3327350" y="3867448"/>
            <a:ext cx="2489299" cy="1114127"/>
          </a:xfrm>
          <a:prstGeom prst="roundRect">
            <a:avLst>
              <a:gd name="adj" fmla="val 6839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3431947" y="4248299"/>
            <a:ext cx="2280106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0"/>
              </a:spcBef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70A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3431947" y="4632424"/>
            <a:ext cx="22801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プラグイン版なら追加コストゼロ（Max/Pro/Teams）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6019800" y="3867448"/>
            <a:ext cx="2489299" cy="1076027"/>
          </a:xfrm>
          <a:prstGeom prst="roundRect">
            <a:avLst>
              <a:gd name="adj" fmla="val 7082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124396" y="4248299"/>
            <a:ext cx="2280106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0"/>
              </a:spcBef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70A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Skills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6124396" y="4632424"/>
            <a:ext cx="228010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 → analysis → report → review-config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ED7D3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34901" y="355550"/>
            <a:ext cx="803168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340"/>
              </a:spcBef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拡張アーキテクチャ — DAST統合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34901" y="863501"/>
            <a:ext cx="803168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Playwright + OWASP ZAP で動的解析を追加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34901" y="1180951"/>
            <a:ext cx="914400" cy="736402"/>
          </a:xfrm>
          <a:prstGeom prst="roundRect">
            <a:avLst>
              <a:gd name="adj" fmla="val 6898"/>
            </a:avLst>
          </a:prstGeom>
          <a:solidFill>
            <a:srgbClr val="4472C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36427" y="1346002"/>
            <a:ext cx="3175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914251" y="1618952"/>
            <a:ext cx="3626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決定論的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549301" y="1180951"/>
            <a:ext cx="6959798" cy="736402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676251" y="1371451"/>
            <a:ext cx="684001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9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SAST + DAST </a:t>
            </a: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DAST NEW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76251" y="1593652"/>
            <a:ext cx="6840016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SAST</a:t>
            </a: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ESLint, PHPStan, Bandit, Gitleaks, Semgrep + Grep | </a:t>
            </a:r>
            <a:r>
              <a:rPr lang="en-US" sz="7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DAST</a:t>
            </a: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Playwright → ZAPプロキシ（docker-compose存在時のみ）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556159" y="2069604"/>
            <a:ext cx="803168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A5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結果をコンテキストとして渡す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34901" y="2374255"/>
            <a:ext cx="914400" cy="736402"/>
          </a:xfrm>
          <a:prstGeom prst="roundRect">
            <a:avLst>
              <a:gd name="adj" fmla="val 6898"/>
            </a:avLst>
          </a:prstGeom>
          <a:solidFill>
            <a:srgbClr val="5B9BD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936427" y="2539305"/>
            <a:ext cx="3175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2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958751" y="2812256"/>
            <a:ext cx="2720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AI分析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1549301" y="2374255"/>
            <a:ext cx="6959798" cy="736402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676251" y="2564755"/>
            <a:ext cx="684001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9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AI分析 + REVIEW.md生成 </a:t>
            </a: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676251" y="2825055"/>
            <a:ext cx="6840016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「コード不在」問題検出 / ビジネスロジック脆弱性 / DAST結果のコンテキスト分析 → review-config.md出力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556159" y="3262908"/>
            <a:ext cx="803168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A5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34901" y="3529459"/>
            <a:ext cx="914400" cy="736402"/>
          </a:xfrm>
          <a:prstGeom prst="roundRect">
            <a:avLst>
              <a:gd name="adj" fmla="val 6898"/>
            </a:avLst>
          </a:prstGeom>
          <a:solidFill>
            <a:srgbClr val="44546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936427" y="3694509"/>
            <a:ext cx="3175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3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1003102" y="3967460"/>
            <a:ext cx="18140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人間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1549301" y="3529459"/>
            <a:ext cx="6959798" cy="736402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676251" y="3719959"/>
            <a:ext cx="684001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900"/>
              </a:spcBef>
              <a:spcAft>
                <a:spcPts val="200"/>
              </a:spcAft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人間レビュー + 継続的AIレビュー </a:t>
            </a: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676251" y="3980259"/>
            <a:ext cx="6840016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エンジニア監督 / 顧客レポート調整 → REVIEW.md配置 → Claude Code Reviewが以降のPRを自動チェック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634901" y="4367361"/>
            <a:ext cx="3873550" cy="758875"/>
          </a:xfrm>
          <a:prstGeom prst="roundRect">
            <a:avLst>
              <a:gd name="adj" fmla="val 6694"/>
            </a:avLst>
          </a:prstGeom>
          <a:solidFill>
            <a:srgbClr val="EEF2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653951" y="4367361"/>
            <a:ext cx="0" cy="758875"/>
          </a:xfrm>
          <a:prstGeom prst="line">
            <a:avLst/>
          </a:prstGeom>
          <a:noFill/>
          <a:ln w="38100">
            <a:solidFill>
              <a:srgbClr val="4472C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4502" y="4570363"/>
            <a:ext cx="37050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SAST（静的解析）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74502" y="4811613"/>
            <a:ext cx="3705097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コードを実行せず検査。既知パターン・CVE・構文エラー。トークン消費ゼロ・高速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4635401" y="4367361"/>
            <a:ext cx="3873698" cy="758875"/>
          </a:xfrm>
          <a:prstGeom prst="roundRect">
            <a:avLst>
              <a:gd name="adj" fmla="val 6694"/>
            </a:avLst>
          </a:prstGeom>
          <a:solidFill>
            <a:srgbClr val="FFF4E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4654451" y="4367361"/>
            <a:ext cx="0" cy="758875"/>
          </a:xfrm>
          <a:prstGeom prst="line">
            <a:avLst/>
          </a:prstGeom>
          <a:noFill/>
          <a:ln w="38100">
            <a:solidFill>
              <a:srgbClr val="ED7D3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75002" y="4570363"/>
            <a:ext cx="37052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00"/>
              </a:spcBef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DAST（動的解析）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775002" y="4811613"/>
            <a:ext cx="3705249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アプリを起動して検査。CSP未設定・Cookie属性・認証欠如。参考: zenn.dev/rescuenow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4472C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34901" y="355550"/>
            <a:ext cx="803168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340"/>
              </a:spcBef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新たな教訓と次のステップ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34901" y="863501"/>
            <a:ext cx="803168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447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6-8 の振り返りと今後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34901" y="1307902"/>
            <a:ext cx="391215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追加された教訓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34901" y="1587252"/>
            <a:ext cx="3912159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競合は補完になりうる</a:t>
            </a:r>
            <a:r>
              <a:rPr lang="en-US" sz="7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Claude Code Reviewは脅威ではなく、初回監査の価値を延長するインフラ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634901" y="1924645"/>
            <a:ext cx="3912159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プラン非依存が重要</a:t>
            </a:r>
            <a:r>
              <a:rPr lang="en-US" sz="7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プラグイン版でMax/Proでも同等の効果。顧客の契約に縛られない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634901" y="2137767"/>
            <a:ext cx="3912159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SAST + DAST の両輪</a:t>
            </a:r>
            <a:r>
              <a:rPr lang="en-US" sz="7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静的解析だけでは検出できない実行時脆弱性。ZAPで一次スクリーニング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634901" y="2475161"/>
            <a:ext cx="3912159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b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保守契約に継続価値を</a:t>
            </a:r>
            <a:r>
              <a:rPr lang="en-US" sz="7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REVIEW.mdルール四半期更新がリカーリング収益の新たな付加価値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673501" y="1307902"/>
            <a:ext cx="391231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次のステップ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73501" y="1587252"/>
            <a:ext cx="3912310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70A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[完了]</a:t>
            </a:r>
            <a:r>
              <a:rPr lang="en-US" sz="7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REVIEW.md自動生成Skill（/audit-review-config）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673501" y="1791593"/>
            <a:ext cx="3912310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70A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[完了]</a:t>
            </a:r>
            <a:r>
              <a:rPr lang="en-US" sz="7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事業計画書・LPにClaude Code Review併用戦略を反映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673501" y="1995934"/>
            <a:ext cx="3912310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70A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[完了]</a:t>
            </a:r>
            <a:r>
              <a:rPr lang="en-US" sz="7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DAST手順をaudit-analysis Skillに統合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4673501" y="2200275"/>
            <a:ext cx="3912310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A5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[未着手]</a:t>
            </a:r>
            <a:r>
              <a:rPr lang="en-US" sz="7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デモプロジェクトでのREVIEW.md生成テスト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673501" y="2404616"/>
            <a:ext cx="3912310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A5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[未着手]</a:t>
            </a:r>
            <a:r>
              <a:rPr lang="en-US" sz="7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Playwright + ZAP のDAST実行PoC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4673501" y="2608957"/>
            <a:ext cx="3912310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A5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[未着手]</a:t>
            </a:r>
            <a:r>
              <a:rPr lang="en-US" sz="7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Skills エンドツーエンドテスト（4 Skills一気通貫）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634901" y="2914799"/>
            <a:ext cx="7874198" cy="653951"/>
          </a:xfrm>
          <a:prstGeom prst="roundRect">
            <a:avLst>
              <a:gd name="adj" fmla="val 11652"/>
            </a:avLst>
          </a:prstGeom>
          <a:solidFill>
            <a:srgbClr val="2A2A4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12602" y="3156049"/>
            <a:ext cx="766917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一貫テーマ:「AIと人間の役割分担をどう設計するか」— 自作→限界→委譲→公式登場→併用。試行錯誤でサービスの本質的価値が磨かれてきた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34901" y="4794349"/>
            <a:ext cx="9961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2026年3月  |  Nanairo Inc.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1088</Words>
  <Application>Microsoft Office PowerPoint</Application>
  <PresentationFormat>画面に合わせる (16:9)</PresentationFormat>
  <Paragraphs>276</Paragraphs>
  <Slides>14</Slides>
  <Notes>14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8" baseType="lpstr">
      <vt:lpstr>Arial</vt:lpstr>
      <vt:lpstr>Calibri</vt:lpstr>
      <vt:lpstr>Consolas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IT資産監査サービス — アーキテクチャ転換の経緯</dc:title>
  <dc:subject>PptxGenJS Presentation</dc:subject>
  <dc:creator>Nanairo Inc.</dc:creator>
  <cp:lastModifiedBy>雅秀 長谷川</cp:lastModifiedBy>
  <cp:revision>2</cp:revision>
  <dcterms:created xsi:type="dcterms:W3CDTF">2026-02-19T17:08:47Z</dcterms:created>
  <dcterms:modified xsi:type="dcterms:W3CDTF">2026-03-18T00:49:20Z</dcterms:modified>
</cp:coreProperties>
</file>